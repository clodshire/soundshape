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0275784" cy="427975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7975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710371" y="1320756"/>
            <a:ext cx="1295456" cy="2158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99"/>
              </a:lnSpc>
            </a:pPr>
            <a:r>
              <a:rPr sz="169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9957" y="1269957"/>
            <a:ext cx="27735869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 spc="468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한국코드페어 2026 · 최종 발표 | 1 / 2 · 문제와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9957" y="1783199"/>
            <a:ext cx="23875199" cy="113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sz="8799" b="1" i="0" spc="-176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SoundShape — 목소리의 감정을 눈으로 읽는 자막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9957" y="2998191"/>
            <a:ext cx="27735869" cy="584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99"/>
              </a:lnSpc>
            </a:pPr>
            <a:r>
              <a:rPr sz="3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운율 과 AI 를 분리한 하이브리드 감정 시각화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9061" y="2921993"/>
            <a:ext cx="934708" cy="7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99"/>
              </a:lnSpc>
            </a:pPr>
            <a:r>
              <a:rPr sz="3999" b="1" i="0">
                <a:solidFill>
                  <a:srgbClr val="2F7A4D"/>
                </a:solidFill>
                <a:latin typeface="Noto Sans KR"/>
                <a:ea typeface="Noto Sans KR"/>
                <a:cs typeface="Noto Sans KR"/>
              </a:rPr>
              <a:t>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2825" y="2921993"/>
            <a:ext cx="934708" cy="7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99"/>
              </a:lnSpc>
            </a:pPr>
            <a:r>
              <a:rPr sz="3999" b="1" i="0">
                <a:solidFill>
                  <a:srgbClr val="6A6A75"/>
                </a:solidFill>
                <a:latin typeface="Noto Sans KR"/>
                <a:ea typeface="Noto Sans KR"/>
                <a:cs typeface="Noto Sans KR"/>
              </a:rPr>
              <a:t>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9957" y="3657477"/>
            <a:ext cx="27735869" cy="1092163"/>
          </a:xfrm>
          <a:prstGeom prst="rect">
            <a:avLst/>
          </a:prstGeom>
          <a:noFill/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9957" y="3835271"/>
            <a:ext cx="5200178" cy="91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4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저자명 · 소속 고등학교 · 지도교사 〔저자 정보 자리〕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8757" y="3854321"/>
            <a:ext cx="21767070" cy="825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sz="25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자막은 만 전달한다. SoundShape는 운율을 측정하고 AI로 감정을 분류해 로 자막 위에 겹쳐, 를 눈으로 읽게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2065" y="3822572"/>
            <a:ext cx="2201392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sz="25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무엇을 말했는가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92953" y="3822572"/>
            <a:ext cx="2958901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sz="25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파형 형태의 시각 언어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5279" y="3822572"/>
            <a:ext cx="2201392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sz="25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말했는가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9957" y="5587812"/>
            <a:ext cx="9042097" cy="6222791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2846" y="5879903"/>
            <a:ext cx="8356320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01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2846" y="6368836"/>
            <a:ext cx="8356320" cy="53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79"/>
              </a:lnSpc>
            </a:pPr>
            <a:r>
              <a:rPr sz="37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감정은 어조에 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12846" y="7026635"/>
            <a:ext cx="2006533" cy="2006533"/>
          </a:xfrm>
          <a:prstGeom prst="roundRect">
            <a:avLst>
              <a:gd name="adj" fmla="val 31645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31932" y="7445720"/>
            <a:ext cx="1168361" cy="11683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218" y="7589880"/>
            <a:ext cx="1063689" cy="53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79"/>
              </a:lnSpc>
            </a:pPr>
            <a:r>
              <a:rPr sz="37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4068" y="8120683"/>
            <a:ext cx="443989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어조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7971" y="7369523"/>
            <a:ext cx="228592" cy="228592"/>
          </a:xfrm>
          <a:prstGeom prst="rect">
            <a:avLst/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3559" y="7261577"/>
            <a:ext cx="1263409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어조 38%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7971" y="7915605"/>
            <a:ext cx="228592" cy="228592"/>
          </a:xfrm>
          <a:prstGeom prst="rect">
            <a:avLst/>
          </a:prstGeom>
          <a:solidFill>
            <a:srgbClr val="14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3559" y="7807658"/>
            <a:ext cx="1719006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말의 내용 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7971" y="8461686"/>
            <a:ext cx="228592" cy="228592"/>
          </a:xfrm>
          <a:prstGeom prst="rect">
            <a:avLst/>
          </a:prstGeom>
          <a:solidFill>
            <a:srgbClr val="C9C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3559" y="8353740"/>
            <a:ext cx="1263409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표정 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2846" y="9160163"/>
            <a:ext cx="8356320" cy="333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말 내용과 어조가 어긋날 때 청자가 의존하는 비율 (Mehrabian) [1][2]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12846" y="9620522"/>
            <a:ext cx="8356320" cy="932625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12846" y="9747518"/>
            <a:ext cx="8356320" cy="805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감정은 음높이·세기·떨림에 물리적으로 부호화되어 있다 [3][4].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2846" y="9741168"/>
            <a:ext cx="8316038" cy="83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분석하면 되살릴 수 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12846" y="10737490"/>
            <a:ext cx="8356320" cy="781024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12846" y="10889885"/>
            <a:ext cx="1046623" cy="628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sz="3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4.3억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9469" y="11080378"/>
            <a:ext cx="2344163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전 세계 청력 손실 [5]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624" y="10889885"/>
            <a:ext cx="906531" cy="628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sz="3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44만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4155" y="11080378"/>
            <a:ext cx="2775254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국내 등록 청각장애인 [6]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16844" y="5587812"/>
            <a:ext cx="9042097" cy="6222791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59732" y="5879903"/>
            <a:ext cx="8356320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02 SAME WORDS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59732" y="6368836"/>
            <a:ext cx="8356320" cy="1061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79"/>
              </a:lnSpc>
            </a:pPr>
            <a:r>
              <a:rPr sz="37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같은 “괜찮아”가위로 · 분노 · 비꼼 · 체념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59732" y="7557437"/>
            <a:ext cx="8356320" cy="2240383"/>
          </a:xfrm>
          <a:prstGeom prst="roundRect">
            <a:avLst>
              <a:gd name="adj" fmla="val 340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329" y="7659034"/>
            <a:ext cx="4025765" cy="936594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690" y="7659034"/>
            <a:ext cx="4025765" cy="968541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329" y="8729171"/>
            <a:ext cx="4025765" cy="967053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8690" y="8729171"/>
            <a:ext cx="4025765" cy="95971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959732" y="9924816"/>
            <a:ext cx="8356320" cy="666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같은 “괜찮다고!!”를 말투에 따라 다르게 그린 실제 화면 — 분노 · 슬픔 · 체념 · 위로. 자막 글자는 넷 모두 같다.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59732" y="10718540"/>
            <a:ext cx="8356320" cy="827853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59732" y="10820136"/>
            <a:ext cx="8356320" cy="7262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텍스트 기반 감정 분석은 “잘~한다” 같은 반어를 놓친다. 비꼼은 단어가 아니라 에 표시되기 때문이다 [8].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692995" y="10807437"/>
            <a:ext cx="1343674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원리적으로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74158" y="11157865"/>
            <a:ext cx="537450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운율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963730" y="5587812"/>
            <a:ext cx="9042097" cy="6222791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306619" y="5879903"/>
            <a:ext cx="8356320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03 RELATED 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06619" y="6343437"/>
            <a:ext cx="8356320" cy="47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sz="3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기존 접근의 한계 · 차별점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306619" y="6958077"/>
            <a:ext cx="253991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일반 자막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46533" y="6958077"/>
            <a:ext cx="581640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대사만 전달. 감정 정보 전무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306619" y="7402562"/>
            <a:ext cx="253991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텍스트 감정 분석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46533" y="7402562"/>
            <a:ext cx="581640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반어를 원리적으로 놓친다 [8]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306619" y="7847047"/>
            <a:ext cx="253991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음성 감정 인식 [3][4]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46533" y="7847047"/>
            <a:ext cx="581640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감정을 . 시각 언어로 번역한 사례는 드물다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604341" y="7847047"/>
            <a:ext cx="1226104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라벨로 분류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306619" y="8291532"/>
            <a:ext cx="2539915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Caption withIntention (2025) [19]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46533" y="8291532"/>
            <a:ext cx="5816405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하고 영화별로 된다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46533" y="8659820"/>
            <a:ext cx="1751053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글자 자체를 변형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113201" y="8659820"/>
            <a:ext cx="992353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사전 제작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306619" y="9548790"/>
            <a:ext cx="8356320" cy="6704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— ① 운율 기반(비꼼 포착) ② 연속 감정 공간 [9] ③ 다채널 시각 언어 ④ 연구 기반 매핑 ⑤ 접근성 우선 설계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306619" y="9510691"/>
            <a:ext cx="771201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차별점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306619" y="10548385"/>
            <a:ext cx="8356320" cy="970128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306619" y="10624583"/>
            <a:ext cx="8356320" cy="893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글자를 변형하지 않은 것은 농인 시청자가 이를 선호하지 않았다는 결과 [7] 때문이며, 임의의 영상에 으로 동작한다. 당사자도 청각장애인에 국한되지 않는다 — 아동 [10], 자폐 스펙트럼 [11], 사이코패스 성향 [12].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746433" y="10907743"/>
            <a:ext cx="66603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실시간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69957" y="12318587"/>
            <a:ext cx="16052261" cy="7111761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12846" y="12915467"/>
            <a:ext cx="2414010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04 PIPELINE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80848" y="12610677"/>
            <a:ext cx="3387810" cy="7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sz="39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처리 파이프라인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22649" y="12864668"/>
            <a:ext cx="3426107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아래 기능 블록 ①~⑦의 지도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846" y="13474248"/>
            <a:ext cx="15366484" cy="5048081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1612846" y="18649324"/>
            <a:ext cx="15366484" cy="488934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12846" y="18769970"/>
            <a:ext cx="1275414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기능 위치 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15256" y="18750921"/>
            <a:ext cx="12113409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① 음원 분리 ② 감정 인식 · ③ 화자 전환 ④ 하이브리드 렌더링 · ⑤ 캘리브레이션 ⑥ 저확신 루프 · ⑦ 햅틱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462" y="18750921"/>
            <a:ext cx="83242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C9C9D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56256" y="18750921"/>
            <a:ext cx="83242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C9C9D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281182" y="18750921"/>
            <a:ext cx="83242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C9C9D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7627008" y="12318587"/>
            <a:ext cx="11378818" cy="7111761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969897" y="12610677"/>
            <a:ext cx="10693041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05 MAPPING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969897" y="13074211"/>
            <a:ext cx="10693041" cy="47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sz="3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감정 → 시각 매핑 근거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046094" y="13676151"/>
            <a:ext cx="1117562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채널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316052" y="13676151"/>
            <a:ext cx="7340354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규칙 · 근거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808800" y="13676151"/>
            <a:ext cx="1777940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46094" y="14126986"/>
            <a:ext cx="1117562" cy="6311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모양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316052" y="14146035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각진 = 위협, 둥근 = 안정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316052" y="14463525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Aronoff(1992) [13]; Bar &amp; Neta(2006) [14]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808800" y="14191675"/>
            <a:ext cx="1101787" cy="469884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D3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948496" y="14217074"/>
            <a:ext cx="822397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43434E"/>
                </a:solidFill>
                <a:latin typeface="Noto Sans KR"/>
                <a:ea typeface="Noto Sans KR"/>
                <a:cs typeface="Noto Sans KR"/>
              </a:rPr>
              <a:t>AI 판단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046094" y="14796194"/>
            <a:ext cx="1117562" cy="62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색상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316052" y="14808894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빨강·파랑·노랑·회색 = 분노·슬픔·행복·중립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316052" y="15126383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Hupka(1997) [15]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6808800" y="14854533"/>
            <a:ext cx="1101787" cy="469884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D3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948496" y="14879932"/>
            <a:ext cx="822397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43434E"/>
                </a:solidFill>
                <a:latin typeface="Noto Sans KR"/>
                <a:ea typeface="Noto Sans KR"/>
                <a:cs typeface="Noto Sans KR"/>
              </a:rPr>
              <a:t>AI 판단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046094" y="15459052"/>
            <a:ext cx="1117562" cy="62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밝기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316052" y="15471752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명도 ∝ 정서가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316052" y="15789241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Valdez &amp; Mehrabian(1994) [16]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6808800" y="15517391"/>
            <a:ext cx="1101787" cy="469884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D3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6948496" y="15542790"/>
            <a:ext cx="822397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43434E"/>
                </a:solidFill>
                <a:latin typeface="Noto Sans KR"/>
                <a:ea typeface="Noto Sans KR"/>
                <a:cs typeface="Noto Sans KR"/>
              </a:rPr>
              <a:t>AI 판단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7969897" y="16083812"/>
            <a:ext cx="10693041" cy="662858"/>
          </a:xfrm>
          <a:prstGeom prst="rect">
            <a:avLst/>
          </a:prstGeom>
          <a:solidFill>
            <a:srgbClr val="F7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046094" y="16121911"/>
            <a:ext cx="1117562" cy="62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채도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316052" y="16134610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채도 ∝ 각성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316052" y="16452099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Valdez &amp; Mehrabian(1994) [16]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6808800" y="16180249"/>
            <a:ext cx="1031245" cy="469884"/>
          </a:xfrm>
          <a:prstGeom prst="roundRect">
            <a:avLst>
              <a:gd name="adj" fmla="val 50000"/>
            </a:avLst>
          </a:prstGeom>
          <a:solidFill>
            <a:srgbClr val="EDF7F0"/>
          </a:solidFill>
          <a:ln w="25399">
            <a:solidFill>
              <a:srgbClr val="93C2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948496" y="16205648"/>
            <a:ext cx="751854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F5D38"/>
                </a:solidFill>
                <a:latin typeface="Noto Sans KR"/>
                <a:ea typeface="Noto Sans KR"/>
                <a:cs typeface="Noto Sans KR"/>
              </a:rPr>
              <a:t>측정값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969897" y="16746670"/>
            <a:ext cx="10693041" cy="662858"/>
          </a:xfrm>
          <a:prstGeom prst="rect">
            <a:avLst/>
          </a:prstGeom>
          <a:solidFill>
            <a:srgbClr val="F7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8046094" y="16784769"/>
            <a:ext cx="1117562" cy="62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크기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316052" y="16797468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크기 ∝ 각성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316052" y="17114958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Russell(1980) [17]; Ohala(1994) [18]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6808800" y="16843107"/>
            <a:ext cx="1031245" cy="469884"/>
          </a:xfrm>
          <a:prstGeom prst="roundRect">
            <a:avLst>
              <a:gd name="adj" fmla="val 50000"/>
            </a:avLst>
          </a:prstGeom>
          <a:solidFill>
            <a:srgbClr val="EDF7F0"/>
          </a:solidFill>
          <a:ln w="25399">
            <a:solidFill>
              <a:srgbClr val="93C2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48496" y="16868507"/>
            <a:ext cx="751854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F5D38"/>
                </a:solidFill>
                <a:latin typeface="Noto Sans KR"/>
                <a:ea typeface="Noto Sans KR"/>
                <a:cs typeface="Noto Sans KR"/>
              </a:rPr>
              <a:t>측정값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7969897" y="17409528"/>
            <a:ext cx="10693041" cy="662858"/>
          </a:xfrm>
          <a:prstGeom prst="rect">
            <a:avLst/>
          </a:prstGeom>
          <a:solidFill>
            <a:srgbClr val="F7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8046094" y="17447627"/>
            <a:ext cx="1117562" cy="62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움직임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316052" y="17460327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빠르고 거친 움직임 = 고각성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316052" y="17777816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Pollick(2001); Banse &amp; Scherer(1996) [3]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6808800" y="17505966"/>
            <a:ext cx="1031245" cy="469884"/>
          </a:xfrm>
          <a:prstGeom prst="roundRect">
            <a:avLst>
              <a:gd name="adj" fmla="val 50000"/>
            </a:avLst>
          </a:prstGeom>
          <a:solidFill>
            <a:srgbClr val="EDF7F0"/>
          </a:solidFill>
          <a:ln w="25399">
            <a:solidFill>
              <a:srgbClr val="93C2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948496" y="17531365"/>
            <a:ext cx="751854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F5D38"/>
                </a:solidFill>
                <a:latin typeface="Noto Sans KR"/>
                <a:ea typeface="Noto Sans KR"/>
                <a:cs typeface="Noto Sans KR"/>
              </a:rPr>
              <a:t>측정값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046094" y="18148584"/>
            <a:ext cx="1117562" cy="65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투명도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9316052" y="18161284"/>
            <a:ext cx="7340354" cy="317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확신이 낮으면 표현을 절제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316052" y="18478773"/>
            <a:ext cx="7340354" cy="24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Bonneau et al.(2014)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6808800" y="18206923"/>
            <a:ext cx="1335440" cy="469884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D3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6948496" y="18232322"/>
            <a:ext cx="1056049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43434E"/>
                </a:solidFill>
                <a:latin typeface="Noto Sans KR"/>
                <a:ea typeface="Noto Sans KR"/>
                <a:cs typeface="Noto Sans KR"/>
              </a:rPr>
              <a:t>AI 확신도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969897" y="18900339"/>
            <a:ext cx="10693041" cy="274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“왜 분노가 빨강인가”에 답할 수 있도록 7채널 전부를 논문에 근거하게 했다.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269957" y="19938331"/>
            <a:ext cx="27735869" cy="685777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638245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638245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235125" y="20379641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435838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435838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032718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032718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29598" y="20379641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830311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830311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427190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427190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024070" y="20379641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224783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24783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821663" y="20262170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821663" y="20262170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609037" y="20344717"/>
            <a:ext cx="1134330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입력 직후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124354" y="20347892"/>
            <a:ext cx="402418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780763" y="20144699"/>
            <a:ext cx="2740528" cy="7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sz="4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① 음원 분리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3808030" y="20319318"/>
            <a:ext cx="4829509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임계값을 취향이 아니라 실측으로 정했다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38245" y="21373383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작동하는가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638245" y="21989312"/>
            <a:ext cx="8796538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HDemucs [24]로 배경음악을 분리하고 분석한다. torchaudio 내장이라 추가 의존성이 없다 (52초 오디오 · CPU 10.1초).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625110" y="21957563"/>
            <a:ext cx="1471265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음성 트랙만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38245" y="23246570"/>
            <a:ext cx="8796538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모든 영상에 적용하면 효과가 없어도 처리 시간을 지불한다. 그래서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38245" y="23214821"/>
            <a:ext cx="8549294" cy="120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앞 20초만 먼저 분리해 음악 에너지 비율을 재고, 0.45 미만이면 건너뛴다.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638245" y="25373749"/>
            <a:ext cx="8796538" cy="101597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849276" y="25272152"/>
            <a:ext cx="63498" cy="304790"/>
          </a:xfrm>
          <a:prstGeom prst="rect">
            <a:avLst/>
          </a:prstGeom>
          <a:solidFill>
            <a:srgbClr val="6A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109999" y="25272152"/>
            <a:ext cx="63498" cy="304790"/>
          </a:xfrm>
          <a:prstGeom prst="rect">
            <a:avLst/>
          </a:prstGeom>
          <a:solidFill>
            <a:srgbClr val="6A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790113" y="25272152"/>
            <a:ext cx="63498" cy="304790"/>
          </a:xfrm>
          <a:prstGeom prst="rect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769361" y="25272152"/>
            <a:ext cx="63498" cy="304790"/>
          </a:xfrm>
          <a:prstGeom prst="rect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596643" y="25068959"/>
            <a:ext cx="63498" cy="482584"/>
          </a:xfrm>
          <a:prstGeom prst="rect">
            <a:avLst/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200376" y="24992761"/>
            <a:ext cx="792533" cy="3492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276574" y="24992761"/>
            <a:ext cx="640138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0.45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638245" y="25576942"/>
            <a:ext cx="723876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0.024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925260" y="25576942"/>
            <a:ext cx="723876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0.281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772552" y="25576942"/>
            <a:ext cx="723876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2F7A4D"/>
                </a:solidFill>
                <a:latin typeface="IBM Plex Mono"/>
                <a:ea typeface="IBM Plex Mono"/>
                <a:cs typeface="IBM Plex Mono"/>
              </a:rPr>
              <a:t>0.472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710908" y="25576942"/>
            <a:ext cx="723876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2F7A4D"/>
                </a:solidFill>
                <a:latin typeface="IBM Plex Mono"/>
                <a:ea typeface="IBM Plex Mono"/>
                <a:cs typeface="IBM Plex Mono"/>
              </a:rPr>
              <a:t>0.697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38245" y="25894431"/>
            <a:ext cx="8796538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음악 에너지 비율 — 효과가 없던 0.281보다 크고, 효과가 확인된 가장 낮은 0.472보다 작다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739573" y="21373383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그림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739573" y="21989312"/>
            <a:ext cx="8796538" cy="4514698"/>
          </a:xfrm>
          <a:prstGeom prst="roundRect">
            <a:avLst>
              <a:gd name="adj" fmla="val 225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1018964" y="23599578"/>
            <a:ext cx="8237757" cy="330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 spc="20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FIGURE PLACEHOLDER · 16:9 × 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018964" y="24031364"/>
            <a:ext cx="8237757" cy="411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원본 파형 ↔ 분리된 음성 파형 비교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018964" y="24544407"/>
            <a:ext cx="8237757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같은 구간을 분리 전 / 후로 나란히.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4984703" y="24512658"/>
            <a:ext cx="1091667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캡처 예정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9840901" y="21373383"/>
            <a:ext cx="87966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9891700" y="22002012"/>
            <a:ext cx="2946003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2939300" y="22002012"/>
            <a:ext cx="3315085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분리 없음 → 함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6355981" y="22002012"/>
            <a:ext cx="2230760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McNemar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9891700" y="22465546"/>
            <a:ext cx="2946003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깨끗한 원본 (상한)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2939300" y="22465546"/>
            <a:ext cx="3315085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sz="2299" b="0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73.5%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6355981" y="22465546"/>
            <a:ext cx="2230760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—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891700" y="23005278"/>
            <a:ext cx="2946003" cy="7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SNR +10dB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3861209" y="23217996"/>
            <a:ext cx="1174016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71.0 →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5035225" y="23084650"/>
            <a:ext cx="1219159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839"/>
              </a:lnSpc>
            </a:pPr>
            <a:r>
              <a:rPr sz="3199" b="1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73.3%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6355981" y="23005278"/>
            <a:ext cx="2230760" cy="7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0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p=0.27유의하지 않음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9840901" y="23748203"/>
            <a:ext cx="8796638" cy="660378"/>
          </a:xfrm>
          <a:prstGeom prst="rect">
            <a:avLst/>
          </a:prstGeom>
          <a:solidFill>
            <a:srgbClr val="F7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9891700" y="23799001"/>
            <a:ext cx="2946003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SNR +5dB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3861209" y="23945046"/>
            <a:ext cx="1174016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68.1 →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5035225" y="23811701"/>
            <a:ext cx="1219159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839"/>
              </a:lnSpc>
            </a:pPr>
            <a:r>
              <a:rPr sz="31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73.8%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6355981" y="23799001"/>
            <a:ext cx="2230760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2F7A4D"/>
                </a:solidFill>
                <a:latin typeface="IBM Plex Mono"/>
                <a:ea typeface="IBM Plex Mono"/>
                <a:cs typeface="IBM Plex Mono"/>
              </a:rPr>
              <a:t>p=0.009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9840901" y="24408581"/>
            <a:ext cx="8796638" cy="660378"/>
          </a:xfrm>
          <a:prstGeom prst="rect">
            <a:avLst/>
          </a:prstGeom>
          <a:solidFill>
            <a:srgbClr val="F7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9891700" y="24459379"/>
            <a:ext cx="2946003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SNR 0dB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3861209" y="24605424"/>
            <a:ext cx="1174016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60.8 →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5035225" y="24472079"/>
            <a:ext cx="1219159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839"/>
              </a:lnSpc>
            </a:pPr>
            <a:r>
              <a:rPr sz="31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71.5%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6355981" y="24459379"/>
            <a:ext cx="2230760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2F7A4D"/>
                </a:solidFill>
                <a:latin typeface="IBM Plex Mono"/>
                <a:ea typeface="IBM Plex Mono"/>
                <a:cs typeface="IBM Plex Mono"/>
              </a:rPr>
              <a:t>p=1.2×10⁻⁵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9840901" y="25183255"/>
            <a:ext cx="8796638" cy="6704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모든 상황을 개선하는 기능이 아니라, 이다.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9840901" y="25145156"/>
            <a:ext cx="8619737" cy="74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음악이 대사를 덮는 지점부터 작동하는 기능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9840901" y="25955548"/>
            <a:ext cx="8796638" cy="548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— 혼합에 쓴 음악은 합성음이며 실제 오케스트라보다 분리가 쉽다. 개선폭은 해야 한다.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9840901" y="25923799"/>
            <a:ext cx="420673" cy="330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9840901" y="25923799"/>
            <a:ext cx="8663292" cy="604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상한으로 해석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269957" y="27304084"/>
            <a:ext cx="27735869" cy="685777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1638245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638245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235125" y="27745394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435838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435838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032718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032718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29598" y="27745394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830311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830311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427190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27190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024070" y="27745394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224783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224783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821663" y="27627923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821663" y="27627923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609037" y="27710470"/>
            <a:ext cx="1134330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분석 단계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124354" y="27713645"/>
            <a:ext cx="402418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780763" y="27510452"/>
            <a:ext cx="2740528" cy="7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sz="4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② 감정 인식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4614254" y="27685071"/>
            <a:ext cx="4023285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모든 정확도는 화자 독립 교차검증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638245" y="28739136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작동하는가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638245" y="29355065"/>
            <a:ext cx="8796538" cy="761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wav2vec2-large-robust(영어) / (한국어)으로 감정 카테고리와 정서가·각성을 얻고, PRAAT 을 함께 쓴다.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94487" y="29323316"/>
            <a:ext cx="1894816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XLSR-korean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46324" y="29704303"/>
            <a:ext cx="1269858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운율 15종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638245" y="30231335"/>
            <a:ext cx="8796538" cy="761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평가는 — 학습에서 본 목소리는 평가에 쓰지 않는다.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547654" y="30199587"/>
            <a:ext cx="3579692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GroupKFold 8겹 화자 독립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689043" y="31378266"/>
            <a:ext cx="4553095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데이터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343735" y="31378266"/>
            <a:ext cx="1564032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제로샷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009363" y="31378266"/>
            <a:ext cx="2374622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학습 후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638245" y="31816401"/>
            <a:ext cx="8796538" cy="698477"/>
          </a:xfrm>
          <a:prstGeom prst="rect">
            <a:avLst/>
          </a:prstGeom>
          <a:solidFill>
            <a:srgbClr val="F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689043" y="31867199"/>
            <a:ext cx="4553095" cy="64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영어 RAVDESS 4분류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43735" y="31867199"/>
            <a:ext cx="1564032" cy="64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55.0%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8009363" y="31867199"/>
            <a:ext cx="2374622" cy="647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79.8%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689043" y="32565676"/>
            <a:ext cx="4553095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영어 RAVDESS 8분류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343735" y="32565676"/>
            <a:ext cx="1564032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—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8009363" y="32565676"/>
            <a:ext cx="2374622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999"/>
              </a:lnSpc>
            </a:pPr>
            <a:r>
              <a:rPr sz="2499" b="0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74.2%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638245" y="33054609"/>
            <a:ext cx="8796538" cy="815154"/>
          </a:xfrm>
          <a:prstGeom prst="rect">
            <a:avLst/>
          </a:prstGeom>
          <a:solidFill>
            <a:srgbClr val="F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689043" y="33105408"/>
            <a:ext cx="4553095" cy="764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한국어 AIHub 7분류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689043" y="33487586"/>
            <a:ext cx="1401616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우연 = 14.3%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343735" y="33105408"/>
            <a:ext cx="1564032" cy="764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17.5%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009363" y="33105408"/>
            <a:ext cx="2374622" cy="764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49.6%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739573" y="28739136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그림 — 혼동행렬</a:t>
            </a:r>
          </a:p>
        </p:txBody>
      </p:sp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9573" y="29342365"/>
            <a:ext cx="4322022" cy="3752724"/>
          </a:xfrm>
          <a:prstGeom prst="rect">
            <a:avLst/>
          </a:prstGeom>
        </p:spPr>
      </p:pic>
      <p:sp>
        <p:nvSpPr>
          <p:cNvPr id="242" name="TextBox 241"/>
          <p:cNvSpPr txBox="1"/>
          <p:nvPr/>
        </p:nvSpPr>
        <p:spPr>
          <a:xfrm>
            <a:off x="10739573" y="33158587"/>
            <a:ext cx="4322022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영어 4분류 · 학습 후 · 화자 독립</a:t>
            </a:r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13990" y="29342365"/>
            <a:ext cx="4322121" cy="3447934"/>
          </a:xfrm>
          <a:prstGeom prst="rect">
            <a:avLst/>
          </a:prstGeom>
        </p:spPr>
      </p:pic>
      <p:sp>
        <p:nvSpPr>
          <p:cNvPr id="244" name="TextBox 243"/>
          <p:cNvSpPr txBox="1"/>
          <p:nvPr/>
        </p:nvSpPr>
        <p:spPr>
          <a:xfrm>
            <a:off x="15213990" y="32853797"/>
            <a:ext cx="4322121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한국어 7분류 · N=1750 · 정답 = 평가자 5인 다수결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0739573" y="33564974"/>
            <a:ext cx="8796538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행 = 정답, 열 = 예측. 한국어에서는 오답이 특정 쌍에 몰리지 않고 넓게 퍼진다.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9840901" y="28739136"/>
            <a:ext cx="8796638" cy="5130628"/>
          </a:xfrm>
          <a:prstGeom prst="roundRect">
            <a:avLst>
              <a:gd name="adj" fmla="val 1980"/>
            </a:avLst>
          </a:prstGeom>
          <a:solidFill>
            <a:srgbClr val="FDF0ED"/>
          </a:solidFill>
          <a:ln w="38099">
            <a:solidFill>
              <a:srgbClr val="F0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0132992" y="28980427"/>
            <a:ext cx="8212457" cy="782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sz="27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★ 한국어 49.6%를어떻게 읽어야 하는가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0132992" y="29915037"/>
            <a:ext cx="6491367" cy="634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우연 대비 (49.6% vs 14.3%)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6624359" y="29915037"/>
            <a:ext cx="1721090" cy="634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3.47배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0132992" y="30600814"/>
            <a:ext cx="6491367" cy="64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인간 상한 — 한 평가자가 다수결을 맞히는 정확도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6624359" y="30600814"/>
            <a:ext cx="1721090" cy="64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14141A"/>
                </a:solidFill>
                <a:latin typeface="IBM Plex Mono"/>
                <a:ea typeface="IBM Plex Mono"/>
                <a:cs typeface="IBM Plex Mono"/>
              </a:rPr>
              <a:t>51.5%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0132992" y="31292940"/>
            <a:ext cx="6491367" cy="64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인간 상한 대비 도달률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6624359" y="31292940"/>
            <a:ext cx="1721090" cy="64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96.3%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0132992" y="31985067"/>
            <a:ext cx="6491367" cy="596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라벨 일치도 — 평가자 5인 Fleiss κ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6624359" y="31985067"/>
            <a:ext cx="1721090" cy="596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839"/>
              </a:lnSpc>
            </a:pPr>
            <a:r>
              <a:rPr sz="3199" b="1" i="0">
                <a:solidFill>
                  <a:srgbClr val="14141A"/>
                </a:solidFill>
                <a:latin typeface="IBM Plex Mono"/>
                <a:ea typeface="IBM Plex Mono"/>
                <a:cs typeface="IBM Plex Mono"/>
              </a:rPr>
              <a:t>0.344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0132992" y="32683544"/>
            <a:ext cx="8212457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모델의 한계라기보다 다.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2683026" y="32645445"/>
            <a:ext cx="4298409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정답 자체가 본질적으로 모호한 과제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0132992" y="33135569"/>
            <a:ext cx="8212457" cy="548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XLSR-korean 채택으로 43.6% → 49.6% (McNemar p&lt;0.001). κ=0.344는 “보통” 수준.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269957" y="34669837"/>
            <a:ext cx="27735869" cy="685777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1638245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638245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235125" y="35111147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2435838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435838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3032718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032718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29598" y="35111147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3830311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830311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4427190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427190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024070" y="35111147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5224783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224783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5821663" y="34993676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5821663" y="34993676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609037" y="35076223"/>
            <a:ext cx="2771583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분석 단계 · ②와 병렬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761607" y="35079398"/>
            <a:ext cx="402418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418016" y="34876205"/>
            <a:ext cx="3844101" cy="7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sz="4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③ 화자 전환 감지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3808030" y="35050824"/>
            <a:ext cx="4829509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표기 선택이 알고리즘 난이도를 결정했다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638245" y="36104888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작동하는가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638245" y="36720818"/>
            <a:ext cx="8796538" cy="761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ECAPA-TDNN [25] 화자 임베딩으로 앞 구간과 비교한다. 사람이 바뀌면 자막 앞에 를 붙인다 — 방송 자막의 국제 표준 표기다.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244741" y="37070056"/>
            <a:ext cx="1417391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긴 대시(—)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638245" y="37597088"/>
            <a:ext cx="8796538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이름은 영상 전체의 화자 신원 추적(화자 수를 모르는 군집화)을 요구하지만, 대시는 “앞 줄과 다르다”만 주장하므로 하다.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638245" y="37565339"/>
            <a:ext cx="5561421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이름이 아니라 대시를 쓴 것은 설계의 문제다.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162385" y="38327314"/>
            <a:ext cx="2101283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인접 비교로 충분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638245" y="40397344"/>
            <a:ext cx="8796538" cy="838172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638245" y="40511641"/>
            <a:ext cx="8796538" cy="723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— 색은 이미 감정을 뜻하므로 한 채널이 두 의미를 갖게 되고, 좌우 위치는 화면 속 배우 위치와 어긋나면 혼란을 준다.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638245" y="40505291"/>
            <a:ext cx="2412125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색·위치를 안 쓴 이유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739573" y="36104888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그림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10739573" y="36720818"/>
            <a:ext cx="8796538" cy="4514698"/>
          </a:xfrm>
          <a:prstGeom prst="roundRect">
            <a:avLst>
              <a:gd name="adj" fmla="val 225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1018964" y="38331084"/>
            <a:ext cx="8237757" cy="330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 spc="20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FIGURE PLACEHOLDER · 16:9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018964" y="38762870"/>
            <a:ext cx="8237757" cy="411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자막 앞에 대시(—)가 붙은 화면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1018964" y="39275912"/>
            <a:ext cx="8237757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2인 대화 구간의 연속 자막 2~3줄.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4919320" y="39244164"/>
            <a:ext cx="3852336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기능 비활성 상태이므로 캡처 예정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9840901" y="36104888"/>
            <a:ext cx="87966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9840901" y="36708118"/>
            <a:ext cx="8796638" cy="654028"/>
          </a:xfrm>
          <a:prstGeom prst="rect">
            <a:avLst/>
          </a:prstGeom>
          <a:solidFill>
            <a:srgbClr val="F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9891700" y="36733517"/>
            <a:ext cx="5358625" cy="628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화자 전환 감지 AUC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2015108" y="36844639"/>
            <a:ext cx="1067657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· 4,000쌍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5351921" y="36746217"/>
            <a:ext cx="3234820" cy="6159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0.958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19840901" y="37362146"/>
            <a:ext cx="8796638" cy="666728"/>
          </a:xfrm>
          <a:prstGeom prst="rect">
            <a:avLst/>
          </a:prstGeom>
          <a:solidFill>
            <a:srgbClr val="F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9891700" y="37387545"/>
            <a:ext cx="5358625" cy="64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발화 연속열 정확도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1931469" y="37511366"/>
            <a:ext cx="178548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· 오탐 3 · 미탐 3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5351921" y="37400245"/>
            <a:ext cx="3234820" cy="628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92.9%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9891700" y="38054273"/>
            <a:ext cx="5358625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최소 구간 1.0초 | 처리 비용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1583025" y="38063798"/>
            <a:ext cx="1477020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· 0.5초 0.904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5351921" y="38054273"/>
            <a:ext cx="3234820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0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0.978 · 36ms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9891700" y="38492408"/>
            <a:ext cx="5358625" cy="596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감정 임베딩으로는 화자 구분 불가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3446985" y="38600355"/>
            <a:ext cx="562155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(ARI)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25903956" y="38625754"/>
            <a:ext cx="1463626" cy="393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sz="2399" b="0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0.102 →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7367582" y="38517807"/>
            <a:ext cx="1219159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839"/>
              </a:lnSpc>
            </a:pPr>
            <a:r>
              <a:rPr sz="3199" b="1" i="0">
                <a:solidFill>
                  <a:srgbClr val="2F7A4D"/>
                </a:solidFill>
                <a:latin typeface="IBM Plex Mono"/>
                <a:ea typeface="IBM Plex Mono"/>
                <a:cs typeface="IBM Plex Mono"/>
              </a:rPr>
              <a:t>0.821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9840901" y="39190885"/>
            <a:ext cx="8796638" cy="579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임계값은 정확도 최고점(0.60 · 94.9%)이 아니라 . 잘못된 대시는 없는 정보를 만들지만, 누락된 대시는 현재 상태를 유지할 뿐이다.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24731329" y="39159136"/>
            <a:ext cx="2842125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정밀도 기준(0.70 · 97.3%)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19840901" y="40158830"/>
            <a:ext cx="8796638" cy="1076686"/>
          </a:xfrm>
          <a:prstGeom prst="roundRect">
            <a:avLst>
              <a:gd name="adj" fmla="val 7077"/>
            </a:avLst>
          </a:prstGeom>
          <a:noFill/>
          <a:ln w="38099">
            <a:solidFill>
              <a:srgbClr val="141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19980597" y="40247727"/>
            <a:ext cx="8517247" cy="9877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— 자막과 결합한 전 과정 성능은 측정하지 못했다. RAVDESS는 문장이 두 개뿐이라 Whisper 반복 억제로 발화의 40~44%가 전사되지 않는다.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20018695" y="40254077"/>
            <a:ext cx="1856420" cy="330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⚠️ 측정하지 못한 것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0018695" y="40528309"/>
            <a:ext cx="8202933" cy="604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실제 2인 대화 영상으로 검증하기 전까지 이 기능은 비활성 상태로 둔다.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7975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710371" y="1320756"/>
            <a:ext cx="1295456" cy="2158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99"/>
              </a:lnSpc>
            </a:pPr>
            <a:r>
              <a:rPr sz="169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9957" y="1269957"/>
            <a:ext cx="27735869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 spc="468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SOUNDSHAPE | 2 / 2 · 매핑 · 출력과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9957" y="1998595"/>
            <a:ext cx="27735869" cy="113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75"/>
              </a:lnSpc>
            </a:pPr>
            <a:r>
              <a:rPr sz="8799" b="1" i="0" spc="-176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측정과 추론을 나눈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9957" y="3428885"/>
            <a:ext cx="27735869" cy="584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99"/>
              </a:lnSpc>
            </a:pPr>
            <a:r>
              <a:rPr sz="3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AI가 구간에서 개선폭이 가장 컸다 — 그리고 사람이 감정을 읽어 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4717" y="3352687"/>
            <a:ext cx="934708" cy="7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99"/>
              </a:lnSpc>
            </a:pPr>
            <a:r>
              <a:rPr sz="39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틀린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9957" y="4825838"/>
            <a:ext cx="27735869" cy="685777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38245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8245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5125" y="5267148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5838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5838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2718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718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598" y="5267148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0311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0311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7190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7190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4070" y="5267148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4783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4783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21663" y="5149677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1663" y="5149677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9037" y="5232224"/>
            <a:ext cx="1134330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매핑 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4354" y="5235399"/>
            <a:ext cx="402418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0763" y="5032206"/>
            <a:ext cx="4703406" cy="7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sz="4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④ 하이브리드 렌더링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56309" y="5206825"/>
            <a:ext cx="7381230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측정할 수 있는 것은 측정하고, 추론이 필요한 것만 AI에 맡긴다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38245" y="6260890"/>
            <a:ext cx="87965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작동하는가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38245" y="6876819"/>
            <a:ext cx="8796538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오차는 전부 에서 생긴다. 그러나 운율 측정값 자체는 틀리지 않는다 — F0가 187Hz라는 것은 사실이다. 그래서 경계를 그곳에 그었다.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6580" y="6845070"/>
            <a:ext cx="1190883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분류 단계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38245" y="8134077"/>
            <a:ext cx="4334722" cy="622279"/>
          </a:xfrm>
          <a:prstGeom prst="roundRect">
            <a:avLst>
              <a:gd name="adj" fmla="val 12244"/>
            </a:avLst>
          </a:prstGeom>
          <a:solidFill>
            <a:srgbClr val="F7FBF8"/>
          </a:solidFill>
          <a:ln w="38099">
            <a:solidFill>
              <a:srgbClr val="93C2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03339" y="8261073"/>
            <a:ext cx="701056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1F5D38"/>
                </a:solidFill>
                <a:latin typeface="Noto Sans KR"/>
                <a:ea typeface="Noto Sans KR"/>
                <a:cs typeface="Noto Sans KR"/>
              </a:rPr>
              <a:t>측정값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5992" y="8299171"/>
            <a:ext cx="1927557" cy="292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크기·채도·움직임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9962" y="8134077"/>
            <a:ext cx="4334821" cy="622279"/>
          </a:xfrm>
          <a:prstGeom prst="roundRect">
            <a:avLst>
              <a:gd name="adj" fmla="val 12244"/>
            </a:avLst>
          </a:prstGeom>
          <a:solidFill>
            <a:srgbClr val="F7F7F9"/>
          </a:solidFill>
          <a:ln w="38099">
            <a:solidFill>
              <a:srgbClr val="D3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5057" y="8261073"/>
            <a:ext cx="771598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43434E"/>
                </a:solidFill>
                <a:latin typeface="Noto Sans KR"/>
                <a:ea typeface="Noto Sans KR"/>
                <a:cs typeface="Noto Sans KR"/>
              </a:rPr>
              <a:t>AI 판단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8252" y="8299171"/>
            <a:ext cx="1693806" cy="292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sz="19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모양·색상·밝기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654" y="8870652"/>
            <a:ext cx="6193622" cy="18580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638245" y="10843055"/>
            <a:ext cx="8796538" cy="548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각성 축으로는 감정이 잘 갈라지지만 정서가 축으로는 뭉쳐 있다(원본 산점도 재작도 · 겹친 점 병합).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39573" y="6260890"/>
            <a:ext cx="8796538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그림 — 채널 분할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75393" y="6324388"/>
            <a:ext cx="1667017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측정값 / AI 판단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573" y="6819671"/>
            <a:ext cx="8796538" cy="3539411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0739573" y="10473378"/>
            <a:ext cx="8796538" cy="918140"/>
          </a:xfrm>
          <a:prstGeom prst="roundRect">
            <a:avLst>
              <a:gd name="adj" fmla="val 11065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42766" y="10657522"/>
            <a:ext cx="1760181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 spc="18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PLACEHOLDER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55342" y="10625773"/>
            <a:ext cx="6477576" cy="61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sz="20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하이브리드 / AI 전용 비교 스크린샷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55342" y="10581325"/>
            <a:ext cx="6422413" cy="694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sz="20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— SS.compare() 캡처 예정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840901" y="6260890"/>
            <a:ext cx="8796638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결과 — 크기 채널 AUC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91700" y="6914918"/>
            <a:ext cx="2944813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구간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38109" y="6914918"/>
            <a:ext cx="2948583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full_ai → hybrid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988289" y="6914918"/>
            <a:ext cx="2598452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sz="1999" b="1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차이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91700" y="7403852"/>
            <a:ext cx="2944813" cy="571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전체 480개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63058" y="7537197"/>
            <a:ext cx="128067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0.750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743731" y="7422901"/>
            <a:ext cx="1142962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599"/>
              </a:lnSpc>
            </a:pPr>
            <a:r>
              <a:rPr sz="29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0.812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988289" y="7403852"/>
            <a:ext cx="2598452" cy="571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+0.062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573255" y="7518148"/>
            <a:ext cx="1013486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p&lt;.0001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840901" y="7975332"/>
            <a:ext cx="8796638" cy="615929"/>
          </a:xfrm>
          <a:prstGeom prst="rect">
            <a:avLst/>
          </a:prstGeom>
          <a:solidFill>
            <a:srgbClr val="FD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891700" y="8026131"/>
            <a:ext cx="2944813" cy="5651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분류기가 127개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983367" y="8080104"/>
            <a:ext cx="514134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틀린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63058" y="8153126"/>
            <a:ext cx="128067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0.722 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743731" y="8038830"/>
            <a:ext cx="1142962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599"/>
              </a:lnSpc>
            </a:pPr>
            <a:r>
              <a:rPr sz="29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0.833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988289" y="8026131"/>
            <a:ext cx="2598452" cy="5651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sz="21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+0.112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718010" y="8140427"/>
            <a:ext cx="868730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p=.005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891700" y="8642060"/>
            <a:ext cx="2944813" cy="5651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분류기가 맞힌 353개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463058" y="8769056"/>
            <a:ext cx="128067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0.760 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743731" y="8654760"/>
            <a:ext cx="1142962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599"/>
              </a:lnSpc>
            </a:pPr>
            <a:r>
              <a:rPr sz="2999" b="1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0.802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988289" y="8642060"/>
            <a:ext cx="2598452" cy="5651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+0.042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718010" y="8750006"/>
            <a:ext cx="868730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p=.026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891700" y="9257989"/>
            <a:ext cx="2944813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채도 채널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615453" y="9334187"/>
            <a:ext cx="128067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0.773 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896125" y="9270689"/>
            <a:ext cx="990567" cy="425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119"/>
              </a:lnSpc>
            </a:pPr>
            <a:r>
              <a:rPr sz="2599" b="1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0.826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88289" y="9257989"/>
            <a:ext cx="2598452" cy="488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+0.053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840901" y="9848520"/>
            <a:ext cx="8796638" cy="6704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하이브리드가 틀린 구간의 0.833은 full_ai가 맞힌 구간의 0.760보다도 높다.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840901" y="9810421"/>
            <a:ext cx="4697751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AI가 틀린 구간에서 개선폭이 2.7배 크다.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840901" y="10620614"/>
            <a:ext cx="8796638" cy="777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RAVDESS 480개의 보통/강함 강도 라벨을 정답으로, 부트스트랩 5000회. — full_ai의 각성도는 학습시킨 적 없는 사전학습 모델에서 나오고, 카테고리는 화자 독립 교차검증으로 다시 예측했다(73.5%).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357965" y="10588865"/>
            <a:ext cx="2133330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스스로 불리하게 잡은 것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269957" y="12191591"/>
            <a:ext cx="13715540" cy="685777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587447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87447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120829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20829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54211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54211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7593" y="12648776"/>
            <a:ext cx="121936" cy="266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360327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60327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893709" y="12528130"/>
            <a:ext cx="507983" cy="507983"/>
          </a:xfrm>
          <a:prstGeom prst="roundRect">
            <a:avLst>
              <a:gd name="adj" fmla="val 50000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93709" y="12528130"/>
            <a:ext cx="507983" cy="50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52490" y="12648776"/>
            <a:ext cx="121936" cy="266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25224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25224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58607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58607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18984" y="12607502"/>
            <a:ext cx="38406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 spc="252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80841" y="12432883"/>
            <a:ext cx="4255449" cy="698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sz="37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⑤ 개인 캘리브레이션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3553719" y="12534479"/>
            <a:ext cx="1114288" cy="495283"/>
          </a:xfrm>
          <a:prstGeom prst="roundRect">
            <a:avLst>
              <a:gd name="adj" fmla="val 50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731513" y="12597977"/>
            <a:ext cx="758700" cy="4317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수집 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87447" y="13601244"/>
            <a:ext cx="6874240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작동하는가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87447" y="14179074"/>
            <a:ext cx="6874240" cy="15239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청각장애인은 균질한 집단이 아니다. 잔존청력·발병 시기에 따라 약 5분 검사로 채널별 판별력을 재고 표현 폭을 조정한다.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87447" y="14528312"/>
            <a:ext cx="6789708" cy="825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색을 잘 읽는 사람과 움직임을 잘 읽는 사람이 갈린다.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87447" y="15804620"/>
            <a:ext cx="6874240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(“이 둘이 같은가”)와 (“어떤 감정인가”)를 나눈다 [22]. 안 보이면 표현 폭을 넓히고, 다른 채널로 역할을 이관한다.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87447" y="15772871"/>
            <a:ext cx="1190883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구분 검사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40974" y="15772871"/>
            <a:ext cx="1190883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의미 검사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87447" y="16153858"/>
            <a:ext cx="6834553" cy="825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보이는데 뜻이 안 통하면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587447" y="17655583"/>
            <a:ext cx="6874240" cy="1127087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87447" y="17757179"/>
            <a:ext cx="6874240" cy="1025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사람은 신뢰도 높은 감각에 더 큰 가중치를 둔다 [20]. 다만 약한 채널도 끄지 않는다() — 중복 부호화가 정확도와 반응속도를 함께 높이기 때문이다 [21].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59768" y="18084193"/>
            <a:ext cx="952369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하한 0.6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690279" y="13601244"/>
            <a:ext cx="5977630" cy="2501816"/>
          </a:xfrm>
          <a:prstGeom prst="roundRect">
            <a:avLst>
              <a:gd name="adj" fmla="val 406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18871" y="14330874"/>
            <a:ext cx="5520445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 spc="19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FIGURE PLACEHOLDER · 4:3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18871" y="14680112"/>
            <a:ext cx="5520445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3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/study 검사 화면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18871" y="15068640"/>
            <a:ext cx="5520445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구분 검사 문항 예시 · 캡처 예정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90279" y="16280854"/>
            <a:ext cx="5977630" cy="2501816"/>
          </a:xfrm>
          <a:prstGeom prst="roundRect">
            <a:avLst>
              <a:gd name="adj" fmla="val 406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18871" y="16692995"/>
            <a:ext cx="3040357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 spc="19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RESULT PLACEHOLDER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74906" y="16648546"/>
            <a:ext cx="1364410" cy="400037"/>
          </a:xfrm>
          <a:prstGeom prst="roundRect">
            <a:avLst>
              <a:gd name="adj" fmla="val 50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3214601" y="16673945"/>
            <a:ext cx="1085020" cy="3746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참가자 0명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18871" y="17099381"/>
            <a:ext cx="5520445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3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결과 수치 자리 — 측정 예정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18871" y="17500608"/>
            <a:ext cx="5520445" cy="91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설계만 확정: 40문항 · 2단계 무작위 제시 · McNemar · 검정 — 학습 스타일 이론이 무너진 지점을 피한 설계 [23]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11558" y="17773649"/>
            <a:ext cx="1459756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교차 상호작용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5290287" y="12191591"/>
            <a:ext cx="13715540" cy="685777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5607776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607776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141158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141158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6674540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674540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207923" y="12648776"/>
            <a:ext cx="121936" cy="266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7380657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7380657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7914039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7914039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447421" y="12648776"/>
            <a:ext cx="121936" cy="266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sz="15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8620155" y="12528130"/>
            <a:ext cx="507983" cy="507983"/>
          </a:xfrm>
          <a:prstGeom prst="roundRect">
            <a:avLst>
              <a:gd name="adj" fmla="val 50000"/>
            </a:avLst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8620155" y="12528130"/>
            <a:ext cx="507983" cy="507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9178936" y="12540829"/>
            <a:ext cx="482584" cy="482584"/>
          </a:xfrm>
          <a:prstGeom prst="roundRect">
            <a:avLst>
              <a:gd name="adj" fmla="val 50000"/>
            </a:avLst>
          </a:prstGeom>
          <a:solidFill>
            <a:srgbClr val="F7F7F9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9178936" y="12540829"/>
            <a:ext cx="482584" cy="482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9839314" y="12607502"/>
            <a:ext cx="38406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 spc="252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0401171" y="12432883"/>
            <a:ext cx="3921986" cy="698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sz="37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⑥ 저확신 학습 루프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7424234" y="12534479"/>
            <a:ext cx="1264104" cy="495283"/>
          </a:xfrm>
          <a:prstGeom prst="roundRect">
            <a:avLst>
              <a:gd name="adj" fmla="val 50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602028" y="12597977"/>
            <a:ext cx="908516" cy="4317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라벨 0건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607776" y="13601244"/>
            <a:ext cx="6874240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어떻게 작동하는가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607776" y="14179074"/>
            <a:ext cx="6874240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한국어 정확도의 주된 원인은 다. 모델은 AIHub 대화 음성으로 학습했지만 사용자는 드라마를 본다.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245212" y="14147325"/>
            <a:ext cx="1751648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도메인 불일치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5607776" y="15423632"/>
            <a:ext cx="6874240" cy="7937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sz="24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드라마 감정 라벨 데이터는 어디에도 없으나,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607776" y="15391883"/>
            <a:ext cx="6657355" cy="854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sz="24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사용자가 지금 보고 있는 것이 바로 그 데이터다.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607776" y="16318952"/>
            <a:ext cx="6874240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확신도가 임계값 아래로 떨어질 때만 화면 구석에 짧은 질문이 뜨고, 답변은 저장된 수치와 연결되어 재학습에 쓰인다. 질문은 로 제한한다.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7511224" y="17049178"/>
            <a:ext cx="2959298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2분에 1회 · 영상당 5회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607776" y="17655583"/>
            <a:ext cx="6874240" cy="1127087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607776" y="17757179"/>
            <a:ext cx="6874240" cy="1025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확신이 낮은 구간은 이미 투명도로 표현이 절제되므로, 되묻는 지점과 절제하는 지점이 같다.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5607776" y="17750829"/>
            <a:ext cx="5051057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음성은 저장하지 않고 분석된 수치만 보관한다.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2710608" y="13601244"/>
            <a:ext cx="5977630" cy="2501816"/>
          </a:xfrm>
          <a:prstGeom prst="roundRect">
            <a:avLst>
              <a:gd name="adj" fmla="val 406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2939201" y="14330874"/>
            <a:ext cx="5520445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 spc="19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FIGURE PLACEHOLDER · 4:3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939201" y="14680112"/>
            <a:ext cx="5520445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3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피드백 질문 카드 화면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939201" y="15068640"/>
            <a:ext cx="5520445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저확신 구간에 뜨는 질문 UI · 캡처 예정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2710608" y="16280854"/>
            <a:ext cx="5977630" cy="2501816"/>
          </a:xfrm>
          <a:prstGeom prst="roundRect">
            <a:avLst>
              <a:gd name="adj" fmla="val 406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2939201" y="16845389"/>
            <a:ext cx="3040357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 spc="19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RESULT PLACEHOLDER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7317180" y="16800941"/>
            <a:ext cx="1142466" cy="400037"/>
          </a:xfrm>
          <a:prstGeom prst="roundRect">
            <a:avLst>
              <a:gd name="adj" fmla="val 50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7456875" y="16826340"/>
            <a:ext cx="863075" cy="3746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라벨 0건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2939201" y="17251776"/>
            <a:ext cx="5520445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3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개선 폭 자리 — 측정 예정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939201" y="17653003"/>
            <a:ext cx="5520445" cy="60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쓸수록 나아지는 구조는 만들었고, 한다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939201" y="17621254"/>
            <a:ext cx="5320129" cy="6730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개선 폭은 데이터 축적 후 측정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269957" y="19557344"/>
            <a:ext cx="27735869" cy="507983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50798">
            <a:solidFill>
              <a:srgbClr val="B9B9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1650945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650945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247825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247825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844705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844705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41585" y="20011353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642297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42297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239177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39177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836057" y="20011353"/>
            <a:ext cx="137215" cy="298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sz="1799" b="1" i="0">
                <a:solidFill>
                  <a:srgbClr val="C9C9D0"/>
                </a:solidFill>
                <a:latin typeface="IBM Plex Mono"/>
                <a:ea typeface="IBM Plex Mono"/>
                <a:cs typeface="IBM Plex Mono"/>
              </a:rPr>
              <a:t>›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036770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25399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036770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633650" y="19893882"/>
            <a:ext cx="533382" cy="533382"/>
          </a:xfrm>
          <a:prstGeom prst="roundRect">
            <a:avLst>
              <a:gd name="adj" fmla="val 50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633650" y="19893882"/>
            <a:ext cx="533382" cy="53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421024" y="19976430"/>
            <a:ext cx="178538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출력 채널 추가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587392" y="19979605"/>
            <a:ext cx="402418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8A8A9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43802" y="19792286"/>
            <a:ext cx="5293242" cy="7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sz="3999" b="1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⑦ 햅틱 채널 — 손목 밴드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4791035" y="19903407"/>
            <a:ext cx="2463519" cy="514333"/>
          </a:xfrm>
          <a:prstGeom prst="roundRect">
            <a:avLst>
              <a:gd name="adj" fmla="val 50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4994228" y="19966905"/>
            <a:ext cx="2057133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제작 예정 · 미구현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5492311" y="19957380"/>
            <a:ext cx="3132528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향후 과제 — 결과 수치 없음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650945" y="20979696"/>
            <a:ext cx="8788105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어떻게 작동할 것인가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650945" y="21544827"/>
            <a:ext cx="8788105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시청자는 배우의 얼굴·자막·감정 시각화 봐야 한다. 시각 채널은 이미 포화 상태이며, 이다 [20].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751709" y="21513078"/>
            <a:ext cx="2101283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세 가지를 동시에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650945" y="21894065"/>
            <a:ext cx="8622713" cy="825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촉각은 유일하게 비어 있고 시선을 전혀 요구하지 않는 채널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650945" y="23659306"/>
            <a:ext cx="8788105" cy="698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측정한 세기를 손목 진동으로 전달하면 화면을 보지 않고도 말의 리듬·강조·침묵을 느낄 수 있다.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743839" y="20979696"/>
            <a:ext cx="8788105" cy="476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구성 (예정)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743839" y="21544827"/>
            <a:ext cx="8788105" cy="1142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ESP32-S3 Feather + DA7280(LRA 모터 일체형), Qwiic 케이블 연결 — . 브라우저가 Web Serial API로 USB를 통해 직접 통신한다.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1084545" y="21894065"/>
            <a:ext cx="2779619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납땜 0회 · 배터리 0개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743839" y="23659306"/>
            <a:ext cx="8788105" cy="698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진동 세기는 백엔드가 PRAAT으로 이미 계산한 값을 쓰므로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743839" y="23627557"/>
            <a:ext cx="8599100" cy="755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화면의 시각화와 진동이 같은 숫자에서 나온다.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9836734" y="20979696"/>
            <a:ext cx="4292456" cy="3378087"/>
          </a:xfrm>
          <a:prstGeom prst="roundRect">
            <a:avLst>
              <a:gd name="adj" fmla="val 2255"/>
            </a:avLst>
          </a:prstGeom>
          <a:solidFill>
            <a:srgbClr val="F2F2F4"/>
          </a:solidFill>
          <a:ln w="38099">
            <a:solidFill>
              <a:srgbClr val="CFCF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0052627" y="21991892"/>
            <a:ext cx="3860670" cy="622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 spc="19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PHOTO PLACEHOLDER · 4:3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0052627" y="22652270"/>
            <a:ext cx="3860670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3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밴드 실물 사진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0052627" y="23040797"/>
            <a:ext cx="3860670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제작 후 삽입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4332383" y="20979696"/>
            <a:ext cx="4292456" cy="3378087"/>
          </a:xfrm>
          <a:prstGeom prst="roundRect">
            <a:avLst>
              <a:gd name="adj" fmla="val 2255"/>
            </a:avLst>
          </a:prstGeom>
          <a:solidFill>
            <a:srgbClr val="F2F2F4"/>
          </a:solidFill>
          <a:ln w="38099">
            <a:solidFill>
              <a:srgbClr val="CFCF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4548276" y="22147461"/>
            <a:ext cx="3860670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1" i="0" spc="19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RESULT PLACEHOLDER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4548276" y="22496700"/>
            <a:ext cx="3860670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399" b="1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동작 확인 결과 자리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4548276" y="22885227"/>
            <a:ext cx="3860670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미제작 · 측정 예정 (숫자 없음)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269957" y="25145156"/>
            <a:ext cx="27735869" cy="9143693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63498">
            <a:solidFill>
              <a:srgbClr val="D04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333455" y="25208654"/>
            <a:ext cx="27608873" cy="1142962"/>
          </a:xfrm>
          <a:prstGeom prst="rect">
            <a:avLst/>
          </a:prstGeom>
          <a:solidFill>
            <a:srgbClr val="FD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663644" y="25580117"/>
            <a:ext cx="402418" cy="361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sz="2199" b="1" i="0" spc="264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320053" y="25376923"/>
            <a:ext cx="6987345" cy="7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sz="4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전체 시스템 검증 — 사용자 실험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561390" y="25532493"/>
            <a:ext cx="8554949" cy="457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4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★ 개별 기능이 아니라 시스템 전체를 사람에게 시험한 유일한 결과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5343587" y="25567417"/>
            <a:ext cx="3268553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IBM Plex Mono"/>
                <a:ea typeface="IBM Plex Mono"/>
                <a:cs typeface="IBM Plex Mono"/>
              </a:rPr>
              <a:t>n = 6 · 대응표본 t검정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663644" y="26605607"/>
            <a:ext cx="8779573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설계 · 조건 A / B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663644" y="27234236"/>
            <a:ext cx="8779573" cy="380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참가자 6인이 동일한 클립을 두 조건에서 보고 감정을 답했다.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663644" y="27742219"/>
            <a:ext cx="8779573" cy="1188601"/>
          </a:xfrm>
          <a:prstGeom prst="roundRect">
            <a:avLst>
              <a:gd name="adj" fmla="val 6410"/>
            </a:avLst>
          </a:prstGeom>
          <a:noFill/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879537" y="27932713"/>
            <a:ext cx="8347787" cy="457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499" b="1" i="0">
                <a:solidFill>
                  <a:srgbClr val="6A6A75"/>
                </a:solidFill>
                <a:latin typeface="Noto Sans KR"/>
                <a:ea typeface="Noto Sans KR"/>
                <a:cs typeface="Noto Sans KR"/>
              </a:rPr>
              <a:t>조건 A — 자막만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879537" y="28389897"/>
            <a:ext cx="8347787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무음 상태에서 자막만 읽는다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663644" y="29057815"/>
            <a:ext cx="8779573" cy="1188601"/>
          </a:xfrm>
          <a:prstGeom prst="roundRect">
            <a:avLst>
              <a:gd name="adj" fmla="val 6410"/>
            </a:avLst>
          </a:prstGeom>
          <a:solidFill>
            <a:srgbClr val="FDF0ED"/>
          </a:solidFill>
          <a:ln w="38099">
            <a:solidFill>
              <a:srgbClr val="F0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879537" y="29248309"/>
            <a:ext cx="8347787" cy="457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4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조건 B — 자막 + SoundShape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879537" y="29705494"/>
            <a:ext cx="8347787" cy="35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0" i="0">
                <a:solidFill>
                  <a:srgbClr val="7A7A85"/>
                </a:solidFill>
                <a:latin typeface="Noto Sans KR"/>
                <a:ea typeface="Noto Sans KR"/>
                <a:cs typeface="Noto Sans KR"/>
              </a:rPr>
              <a:t>동일 클립에 파형 시각화를 겹친다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663644" y="32723627"/>
            <a:ext cx="8779573" cy="1247733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663644" y="32850623"/>
            <a:ext cx="8779573" cy="1120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는 자막만으로는 반어를 읽지 못했지만 SoundShape를 더하자 다수가 정확히 읽었음을 뜻한다. “말투가 글자를 이긴다”는 핵심 가설의 직접 증거다.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663644" y="32844273"/>
            <a:ext cx="2913758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비꼼에서의 0% → 67%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589095" y="32844273"/>
            <a:ext cx="806225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아무도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748007" y="26605607"/>
            <a:ext cx="8779672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결과 — 조건 A / B 대비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786105" y="32354149"/>
            <a:ext cx="144855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786105" y="30095807"/>
            <a:ext cx="289610" cy="31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8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50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786105" y="27945412"/>
            <a:ext cx="609580" cy="330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100%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1446483" y="27945412"/>
            <a:ext cx="8081195" cy="2539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446483" y="30279951"/>
            <a:ext cx="8081195" cy="2539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446483" y="31353859"/>
            <a:ext cx="1791632" cy="1260631"/>
          </a:xfrm>
          <a:prstGeom prst="rect">
            <a:avLst/>
          </a:prstGeom>
          <a:solidFill>
            <a:srgbClr val="A9A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2045050" y="30922073"/>
            <a:ext cx="594400" cy="425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27%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3441308" y="29206143"/>
            <a:ext cx="1791731" cy="3408347"/>
          </a:xfrm>
          <a:prstGeom prst="rect">
            <a:avLst/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4039875" y="28774357"/>
            <a:ext cx="594400" cy="425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73%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5639426" y="32538292"/>
            <a:ext cx="1791731" cy="76197"/>
          </a:xfrm>
          <a:prstGeom prst="rect">
            <a:avLst/>
          </a:prstGeom>
          <a:solidFill>
            <a:srgbClr val="A9A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6337109" y="32106507"/>
            <a:ext cx="396266" cy="425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6A6A75"/>
                </a:solidFill>
                <a:latin typeface="IBM Plex Mono"/>
                <a:ea typeface="IBM Plex Mono"/>
                <a:cs typeface="IBM Plex Mono"/>
              </a:rPr>
              <a:t>0%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7634350" y="29486228"/>
            <a:ext cx="1791731" cy="3128262"/>
          </a:xfrm>
          <a:prstGeom prst="rect">
            <a:avLst/>
          </a:prstGeom>
          <a:solidFill>
            <a:srgbClr val="D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8232917" y="29054442"/>
            <a:ext cx="594400" cy="425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sz="25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67%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1408384" y="32779584"/>
            <a:ext cx="3856404" cy="731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3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전체 클립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710793" y="33145292"/>
            <a:ext cx="3251488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A 자막만 · B +SoundShape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5671175" y="32779584"/>
            <a:ext cx="3856503" cy="731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3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비꼼 · 억눌린 감정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5973683" y="33145292"/>
            <a:ext cx="3251488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A 자막만 · B +SoundShape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748007" y="33637996"/>
            <a:ext cx="8779672" cy="333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20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감정 인식 정확도. 조건 A의 비꼼 정확도는 0%이므로 막대가 그려지지 않는다.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9832468" y="26605607"/>
            <a:ext cx="8779573" cy="501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sz="26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결과 표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9832468" y="27234236"/>
            <a:ext cx="8779573" cy="869921"/>
          </a:xfrm>
          <a:prstGeom prst="rect">
            <a:avLst/>
          </a:prstGeom>
          <a:solidFill>
            <a:srgbClr val="FD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9908665" y="27348532"/>
            <a:ext cx="4911263" cy="755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감정 인식 정확도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2075927" y="27435544"/>
            <a:ext cx="1065375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9A9AA5"/>
                </a:solidFill>
                <a:latin typeface="Noto Sans KR"/>
                <a:ea typeface="Noto Sans KR"/>
                <a:cs typeface="Noto Sans KR"/>
              </a:rPr>
              <a:t>· A → B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6569195" y="27532676"/>
            <a:ext cx="1097918" cy="393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sz="23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27% →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7667113" y="27348532"/>
            <a:ext cx="868730" cy="628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sz="37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73%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9832468" y="28104157"/>
            <a:ext cx="8779573" cy="882620"/>
          </a:xfrm>
          <a:prstGeom prst="rect">
            <a:avLst/>
          </a:prstGeom>
          <a:solidFill>
            <a:srgbClr val="FD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9908665" y="28218453"/>
            <a:ext cx="4911263" cy="7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비꼼 및 억눌린 감정 클립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6752049" y="28415296"/>
            <a:ext cx="915064" cy="393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sz="23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0% →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7667113" y="28231153"/>
            <a:ext cx="868730" cy="628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sz="3799" b="1" i="0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67%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9908665" y="29101073"/>
            <a:ext cx="4911263" cy="704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향상폭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4972323" y="29101073"/>
            <a:ext cx="3563520" cy="704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14141A"/>
                </a:solidFill>
                <a:latin typeface="IBM Plex Mono"/>
                <a:ea typeface="IBM Plex Mono"/>
                <a:cs typeface="IBM Plex Mono"/>
              </a:rPr>
              <a:t>+46%p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9908665" y="29920196"/>
            <a:ext cx="4911263" cy="704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대응표본 t검정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4972323" y="29920196"/>
            <a:ext cx="3563520" cy="704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14141A"/>
                </a:solidFill>
                <a:latin typeface="IBM Plex Mono"/>
                <a:ea typeface="IBM Plex Mono"/>
                <a:cs typeface="IBM Plex Mono"/>
              </a:rPr>
              <a:t>p = 0.016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9908665" y="30739318"/>
            <a:ext cx="4911263" cy="692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평균 확신도 (5점)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6660672" y="30885364"/>
            <a:ext cx="1097918" cy="393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sz="2399" b="0" i="0">
                <a:solidFill>
                  <a:srgbClr val="9A9AA5"/>
                </a:solidFill>
                <a:latin typeface="IBM Plex Mono"/>
                <a:ea typeface="IBM Plex Mono"/>
                <a:cs typeface="IBM Plex Mono"/>
              </a:rPr>
              <a:t>3.3 →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7758590" y="30752018"/>
            <a:ext cx="777254" cy="5651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079"/>
              </a:lnSpc>
            </a:pPr>
            <a:r>
              <a:rPr sz="3399" b="1" i="0">
                <a:solidFill>
                  <a:srgbClr val="4A4A55"/>
                </a:solidFill>
                <a:latin typeface="IBM Plex Mono"/>
                <a:ea typeface="IBM Plex Mono"/>
                <a:cs typeface="IBM Plex Mono"/>
              </a:rPr>
              <a:t>3.5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9832468" y="31558441"/>
            <a:ext cx="8779573" cy="761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이 는 청인이 목소리를 직접 듣고 감정을 인식하는 수준인 에 근접하는 값이다.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0181012" y="31526692"/>
            <a:ext cx="652937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73%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7547955" y="31526692"/>
            <a:ext cx="1002473" cy="444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23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약 66%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9832468" y="32495035"/>
            <a:ext cx="8779573" cy="1476325"/>
          </a:xfrm>
          <a:prstGeom prst="roundRect">
            <a:avLst>
              <a:gd name="adj" fmla="val 5161"/>
            </a:avLst>
          </a:prstGeom>
          <a:noFill/>
          <a:ln w="38099">
            <a:solidFill>
              <a:srgbClr val="141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0010262" y="32647429"/>
            <a:ext cx="8423984" cy="1323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— 표본이 , 정상 청각자의 이며, 다. 추후 청각장애인 당사자 및 대규모 표본으로 보완해야 한다.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0048361" y="32653779"/>
            <a:ext cx="537450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1849121" y="32653779"/>
            <a:ext cx="1582188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6인으로 적고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5320668" y="32653779"/>
            <a:ext cx="1141275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무음 실험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0048361" y="32653779"/>
            <a:ext cx="8238749" cy="784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sz="22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같은 클립을 두 조건에서 본 설계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269957" y="34796832"/>
            <a:ext cx="13715540" cy="45210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38099">
            <a:solidFill>
              <a:srgbClr val="141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587447" y="35234968"/>
            <a:ext cx="38406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 spc="252">
                <a:solidFill>
                  <a:srgbClr val="14141A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174703" y="35038124"/>
            <a:ext cx="3642099" cy="584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sz="3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한계 — 숨기지 않는다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638245" y="35749300"/>
            <a:ext cx="2285923" cy="4254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표본 크기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025765" y="35762000"/>
            <a:ext cx="10591445" cy="41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사용자 실험 6인.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898952" y="35744836"/>
            <a:ext cx="3125980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청각장애인 당사자 검증 없음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638245" y="36212835"/>
            <a:ext cx="2285923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한국어 정확도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025765" y="36212835"/>
            <a:ext cx="10591445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49.6%. 인간 상한의 96%이나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361883" y="36221070"/>
            <a:ext cx="1532680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절대값은 낮다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638245" y="36701768"/>
            <a:ext cx="2285923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음원 분리 평가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4025765" y="36701768"/>
            <a:ext cx="10591445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합성 음악 기준이므로 개선폭은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453856" y="36710003"/>
            <a:ext cx="490719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상한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638245" y="37190702"/>
            <a:ext cx="2285923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화자 구분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025765" y="37190702"/>
            <a:ext cx="10591445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모듈 단위만 검증. 전 과정 미검증 →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973447" y="37198937"/>
            <a:ext cx="736079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비활성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638245" y="37679636"/>
            <a:ext cx="2285923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캘리브레이션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025765" y="37679636"/>
            <a:ext cx="10591445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참가자 〔PLACEHOLDER〕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821473" y="37687870"/>
            <a:ext cx="1723670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0명 · 결과 없음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638245" y="38168569"/>
            <a:ext cx="2285923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햅틱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025765" y="38168569"/>
            <a:ext cx="10591445" cy="450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— 부품만 확보, 제작 전 〔PLACEHOLDER〕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025765" y="38176804"/>
            <a:ext cx="736079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미구현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638245" y="38657503"/>
            <a:ext cx="2285923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정서가 예측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025765" y="38657503"/>
            <a:ext cx="10591445" cy="43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r=0.42로 약함.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5725127" y="38665738"/>
            <a:ext cx="3492383" cy="387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밝기 채널만 이 한계에 남아 있다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15290287" y="34796832"/>
            <a:ext cx="13715540" cy="45210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5607776" y="35234968"/>
            <a:ext cx="384063" cy="349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sz="2099" b="1" i="0" spc="252">
                <a:solidFill>
                  <a:srgbClr val="D0402A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6195032" y="35038124"/>
            <a:ext cx="2770392" cy="584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sz="3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결론 · 향후 과제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5607776" y="35723901"/>
            <a:ext cx="13080561" cy="104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0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핵심 기여는 에 대한 답이다. AI 분류가 완벽하지 않다는 사실을 시스템 설계로 흡수했다 — 틀릴 수 있는 채널과 틀릴 수 없는 채널을 나누고, 사용자가 둘을 즉시 비교할 수 있게 했다. 그 결과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7017925" y="35692152"/>
            <a:ext cx="4686837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측정과 추론의 경계를 어디에 그을 것인가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5607776" y="36390629"/>
            <a:ext cx="6203742" cy="4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sz="21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AI가 감정을 틀린 구간에서 오히려 개선폭이 가장 컸다.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5607776" y="36873213"/>
            <a:ext cx="13080561" cy="2247825"/>
          </a:xfrm>
          <a:prstGeom prst="rect">
            <a:avLst/>
          </a:prstGeom>
          <a:noFill/>
          <a:ln w="25399">
            <a:solidFill>
              <a:srgbClr val="EC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5607776" y="36987509"/>
            <a:ext cx="13080561" cy="419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sz="2299" b="1" i="0">
                <a:solidFill>
                  <a:srgbClr val="14141A"/>
                </a:solidFill>
                <a:latin typeface="Noto Sans KR"/>
                <a:ea typeface="Noto Sans KR"/>
                <a:cs typeface="Noto Sans KR"/>
              </a:rPr>
              <a:t>향후 과제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5607776" y="37444693"/>
            <a:ext cx="13080561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청각장애인 당사자 대상 검증 — 현재 가장 큰 공백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5607776" y="37412944"/>
            <a:ext cx="29953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5607776" y="37787582"/>
            <a:ext cx="13080561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햅틱 채널 구현 〔PLACEHOLDER〕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5607776" y="37755833"/>
            <a:ext cx="29953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5607776" y="38130470"/>
            <a:ext cx="13080561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캘리브레이션 참가자 수집 〔PLACEHOLDER〕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5607776" y="38098721"/>
            <a:ext cx="29953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5607776" y="38473359"/>
            <a:ext cx="13080561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실제 2인 대화 영상으로 화자 구분 검증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5607776" y="38441610"/>
            <a:ext cx="29953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5607776" y="38816247"/>
            <a:ext cx="13080561" cy="30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0" i="0">
                <a:solidFill>
                  <a:srgbClr val="4A4A55"/>
                </a:solidFill>
                <a:latin typeface="Noto Sans KR"/>
                <a:ea typeface="Noto Sans KR"/>
                <a:cs typeface="Noto Sans KR"/>
              </a:rPr>
              <a:t>저확신 학습 루프의 실사용 데이터 축적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5607776" y="38784498"/>
            <a:ext cx="299531" cy="36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>
                <a:solidFill>
                  <a:srgbClr val="D0402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1269957" y="39622670"/>
            <a:ext cx="27735869" cy="1904936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 w="38099">
            <a:solidFill>
              <a:srgbClr val="DC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562048" y="39813164"/>
            <a:ext cx="27151689" cy="330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sz="1999" b="1" i="0" spc="240">
                <a:solidFill>
                  <a:srgbClr val="7A7A85"/>
                </a:solidFill>
                <a:latin typeface="IBM Plex Mono"/>
                <a:ea typeface="IBM Plex Mono"/>
                <a:cs typeface="IBM Plex Mono"/>
              </a:rPr>
              <a:t>REFERENCES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562048" y="40206851"/>
            <a:ext cx="13410750" cy="1106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[1] Mehrabian &amp; Wiener (1967). Decoding of inconsistent communications. . [2] Mehrabian &amp; Ferris (1967). Inference of attitudes from nonverbal communication in two channels. . [3] Banse &amp; Scherer (1996). Acoustic profiles in vocal emotion expression. . [4] Juslin &amp; Laukka (2003). Communication of emotions in vocal expression and music performance. . [5] WHO. World report on hearing. [6] 보건복지부 (2024). 등록장애인 현황. [7] 농인 시청자 자막 선호 연구. [8] Cheang &amp; Pell. The sound of sarcasm. . [9] Russell (1980). A circumplex model of affect. .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6368241" y="40194151"/>
            <a:ext cx="332967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JPSP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562048" y="40378493"/>
            <a:ext cx="6312184" cy="3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J. Consulting Psychology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181212" y="40562836"/>
            <a:ext cx="332967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JPSP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562048" y="40931520"/>
            <a:ext cx="1432373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Psychological Bulletin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2751463" y="40194151"/>
            <a:ext cx="1559270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Speech Communication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1312145" y="40378493"/>
            <a:ext cx="332967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JPSP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8432517" y="40206851"/>
            <a:ext cx="13410750" cy="1106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[10] Grosbras et al. (2018). Development of emotion recognition from voice. , 14791. [11] Zhang et al. (2022). Affective prosody recognition in autism: a meta-analysis. [12] Dawel et al. (2012). Emotion recognition deficits in psychopathy: a meta-analysis. [13] Aronoff et al. (1992). Which are the stimuli in facial displays of anger and happiness? [14] Bar &amp; Neta (2006). Humans prefer curved visual objects. . [15] Hupka et al. (1997). The colors of anger, envy, fear, and jealousy. . [16] Valdez &amp; Mehrabian (1994). Effects of color on emotions. . [17] Russell (1980). (동일)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3325722" y="40562836"/>
            <a:ext cx="1286030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Scientific Reports, 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7158612" y="40194151"/>
            <a:ext cx="1424932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Psychological Science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6873070" y="40378493"/>
            <a:ext cx="336638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JCCP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5302986" y="40378493"/>
            <a:ext cx="6258410" cy="3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JEP: General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5302986" y="40206851"/>
            <a:ext cx="13410750" cy="1106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0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[18] Ohala (1994). The frequency code underlies the sound-symbolic use of voice pitch. In . [19] FCB Chicago, AMPAS, &amp; Chicago Hearing Society (2025). Caption with Intention. . [20] Ernst &amp; Banks (2002). Humans integrate visual and haptic information in a statistically optimal fashion. (6870), 429–433. [21] Miller (1982). Divided attention: evidence for coactivation with redundant signals. (2), 247–279. [22] Green &amp; Swets (1966). . Wiley. [23] Pashler et al. (2008). Learning styles: concepts and evidence. (3), 105–119. [24] Défossez et al. (2021). Hybrid spectrogram and waveform source separation. . [25] Desplanques et al. (2020). ECAPA-TDNN. 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5302986" y="40747178"/>
            <a:ext cx="6216045" cy="387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Sound Symbolism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5302986" y="41115862"/>
            <a:ext cx="1480691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Cannes Lions Titanium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24288133" y="40194151"/>
            <a:ext cx="746993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Nature, 415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5388730" y="40378493"/>
            <a:ext cx="1609274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Cognitive Psychology, 14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3065502" y="40562836"/>
            <a:ext cx="2818611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Signal Detection Theory and Psychophysics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24161138" y="40747178"/>
            <a:ext cx="446767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PSPI, 9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4361156" y="40931520"/>
            <a:ext cx="367494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ISMIR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7752736" y="40931520"/>
            <a:ext cx="769713" cy="2031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</a:pPr>
            <a:r>
              <a:rPr sz="1099" b="0" i="1">
                <a:solidFill>
                  <a:srgbClr val="8A8A95"/>
                </a:solidFill>
                <a:latin typeface="Noto Sans KR"/>
                <a:ea typeface="Noto Sans KR"/>
                <a:cs typeface="Noto Sans KR"/>
              </a:rPr>
              <a:t>Interspeech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